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0B0B0B"/>
                </a:solidFill>
                <a:latin typeface="Segoe UI"/>
              </a:rPr>
              <a:t>Share of Wallet Intelligence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52514E"/>
                </a:solidFill>
                <a:latin typeface="Segoe UI"/>
              </a:rPr>
              <a:t>How much of each client's banking does Syn Bank actually hold?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886200"/>
            <a:ext cx="1645920" cy="320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0B0B0B"/>
                </a:solidFill>
                <a:latin typeface="Segoe UI"/>
              </a:rPr>
              <a:t>Team The Independent Variable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B0B0B"/>
                </a:solidFill>
                <a:latin typeface="Segoe UI"/>
              </a:rPr>
              <a:t>Daniel Mataranyika · Herton Mabongue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2514E"/>
                </a:solidFill>
                <a:latin typeface="Segoe UI"/>
              </a:rPr>
              <a:t>Standard Bank × Data School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78D6"/>
                </a:solidFill>
                <a:latin typeface="Segoe U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Segoe UI"/>
              </a:rPr>
              <a:t>You cannot measure what you cannot see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371600" cy="320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>
                <a:solidFill>
                  <a:srgbClr val="0B0B0B"/>
                </a:solidFill>
                <a:latin typeface="Segoe UI"/>
              </a:rPr>
              <a:t>Syn Bank sees every transaction that flows through Syn Bank — and none of the ones</a:t>
            </a:r>
          </a:p>
          <a:p>
            <a:pPr algn="l">
              <a:lnSpc>
                <a:spcPct val="130000"/>
              </a:lnSpc>
            </a:pPr>
            <a:r>
              <a:rPr sz="1900" b="0">
                <a:solidFill>
                  <a:srgbClr val="0B0B0B"/>
                </a:solidFill>
                <a:latin typeface="Segoe UI"/>
              </a:rPr>
              <a:t>that flow through its competitors.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52514E"/>
                </a:solidFill>
                <a:latin typeface="Segoe UI"/>
              </a:rPr>
              <a:t>So share of wallet cannot be read off the internal data. It has to be estimated from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2514E"/>
                </a:solidFill>
                <a:latin typeface="Segoe UI"/>
              </a:rPr>
              <a:t>outside, and the estimate has to be independent of what we already hold.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526280"/>
            <a:ext cx="10881360" cy="18288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8006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EB6834"/>
                </a:solidFill>
                <a:latin typeface="Segoe UI"/>
              </a:rPr>
              <a:t>Getting that independence wrong is subtle — and we got it wrong first.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78D6"/>
                </a:solidFill>
                <a:latin typeface="Segoe UI"/>
              </a:rPr>
              <a:t>WHAT WE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Segoe UI"/>
              </a:rPr>
              <a:t>Our first model could not see the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371600" cy="320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6692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0B0B0B"/>
                </a:solidFill>
                <a:latin typeface="Segoe UI"/>
              </a:rPr>
              <a:t>We sized the wallet from internal flow, then took captured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0B0B0B"/>
                </a:solidFill>
                <a:latin typeface="Segoe UI"/>
              </a:rPr>
              <a:t>volume as a fraction of it: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5669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A78D6"/>
                </a:solidFill>
                <a:latin typeface="Segoe UI"/>
              </a:rPr>
              <a:t>share = (wallet × capture_ratio) / wallet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80"/>
            <a:ext cx="566928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2514E"/>
                </a:solidFill>
                <a:latin typeface="Segoe UI"/>
              </a:rPr>
              <a:t>The wallet term cancels. Share was identical to the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52514E"/>
                </a:solidFill>
                <a:latin typeface="Segoe UI"/>
              </a:rPr>
              <a:t>assumed capture rate — the data never entered it.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52514E"/>
                </a:solidFill>
                <a:latin typeface="Segoe UI"/>
              </a:rPr>
              <a:t>It passed every obvious check: values between 0 and 1,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52514E"/>
                </a:solidFill>
                <a:latin typeface="Segoe UI"/>
              </a:rPr>
              <a:t>a plausible-looking ranking.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0292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52514E"/>
                </a:solidFill>
                <a:latin typeface="Segoe UI"/>
              </a:rPr>
              <a:t>2,757×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961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2514E"/>
                </a:solidFill>
                <a:latin typeface="Segoe UI"/>
              </a:rPr>
              <a:t>DIFFERENCE IN CLIENT SIZE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50292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B6834"/>
                </a:solidFill>
                <a:latin typeface="Segoe UI"/>
              </a:rPr>
              <a:t>4.4 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559612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2514E"/>
                </a:solidFill>
                <a:latin typeface="Segoe UI"/>
              </a:rPr>
              <a:t>DIFFERENCE IN SHARE</a:t>
            </a:r>
          </a:p>
        </p:txBody>
      </p:sp>
      <p:pic>
        <p:nvPicPr>
          <p:cNvPr id="12" name="Picture 11" descr="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103120"/>
            <a:ext cx="4937760" cy="150221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78D6"/>
                </a:solidFill>
                <a:latin typeface="Segoe UI"/>
              </a:rPr>
              <a:t>THE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Segoe UI"/>
              </a:rPr>
              <a:t>Two sides, two independent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371600" cy="320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TOP-DOWN — estimated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Addressable flow, from published FY2025 statements: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•  Revenue  →  transactional banking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•  Foreign revenue  →  cross-border / FX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•  Cost of sales + inventory  →  trade finance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Each scaled by an explicit SA-attribution share.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459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B6834"/>
                </a:solidFill>
                <a:latin typeface="Segoe UI"/>
              </a:rPr>
              <a:t>BOTTOM-UP — 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057400"/>
            <a:ext cx="51206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Captured flow, summed over the trailing 12 months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of Syn Bank's own datasets.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No assumption enters this side at all.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That is what makes the sensitivity test in a</a:t>
            </a:r>
          </a:p>
          <a:p>
            <a:pPr algn="l">
              <a:lnSpc>
                <a:spcPct val="13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later slide meaningful.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17720"/>
            <a:ext cx="10881360" cy="18288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B0B0B"/>
                </a:solidFill>
                <a:latin typeface="Segoe UI"/>
              </a:rPr>
              <a:t>share  =  captured flow  ÷  addressable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2514E"/>
                </a:solidFill>
                <a:latin typeface="Segoe UI"/>
              </a:rPr>
              <a:t>Share now spans 0.1% to 67.8% across the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78D6"/>
                </a:solidFill>
                <a:latin typeface="Segoe UI"/>
              </a:rPr>
              <a:t>THE FINDING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Segoe UI"/>
              </a:rPr>
              <a:t>Syn Bank holds 4.5% of its clients' banking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371600" cy="320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A78D6"/>
                </a:solidFill>
                <a:latin typeface="Segoe UI"/>
              </a:rPr>
              <a:t>4.5%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500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2514E"/>
                </a:solidFill>
                <a:latin typeface="Segoe UI"/>
              </a:rPr>
              <a:t>SHARE OF WALLET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7830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A78D6"/>
                </a:solidFill>
                <a:latin typeface="Segoe UI"/>
              </a:rPr>
              <a:t>R4.29tn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3500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2514E"/>
                </a:solidFill>
                <a:latin typeface="Segoe UI"/>
              </a:rPr>
              <a:t>ADDRESSABLE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7830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B6834"/>
                </a:solidFill>
                <a:latin typeface="Segoe UI"/>
              </a:rPr>
              <a:t>R4.10tn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23500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2514E"/>
                </a:solidFill>
                <a:latin typeface="Segoe UI"/>
              </a:rPr>
              <a:t>UNCAPTURED 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17830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B6834"/>
                </a:solidFill>
                <a:latin typeface="Segoe UI"/>
              </a:rPr>
              <a:t>R9.65bn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350008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2514E"/>
                </a:solidFill>
                <a:latin typeface="Segoe UI"/>
              </a:rPr>
              <a:t>FEE OPPORTUNITY / YR</a:t>
            </a:r>
          </a:p>
        </p:txBody>
      </p:sp>
      <p:pic>
        <p:nvPicPr>
          <p:cNvPr id="13" name="Picture 12" descr="pill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17520"/>
            <a:ext cx="5577840" cy="231749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675120" y="306324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B0B0B"/>
                </a:solidFill>
                <a:latin typeface="Segoe UI"/>
              </a:rPr>
              <a:t>Transactional is the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52044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It is the largest uncaptured pillar in absolute terms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and the lead pillar for 19 of 20 clients.</a:t>
            </a:r>
          </a:p>
          <a:p>
            <a:pPr algn="l">
              <a:lnSpc>
                <a:spcPct val="135000"/>
              </a:lnSpc>
            </a:pP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That makes cash-management consolidation the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repeatable conversation across the whole book —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one proposition, twenty meetings.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78D6"/>
                </a:solidFill>
                <a:latin typeface="Segoe UI"/>
              </a:rPr>
              <a:t>PRIORITISATION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Segoe UI"/>
              </a:rPr>
              <a:t>Where a banker should start on Monday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371600" cy="320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pportu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1640"/>
            <a:ext cx="6766560" cy="307403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80960" y="173736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0B0B"/>
                </a:solidFill>
                <a:latin typeface="Segoe UI"/>
              </a:rPr>
              <a:t>Ranked by winnable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2240280"/>
            <a:ext cx="3931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</a:pPr>
            <a:r>
              <a:rPr sz="1300" b="0">
                <a:solidFill>
                  <a:srgbClr val="52514E"/>
                </a:solidFill>
                <a:latin typeface="Segoe UI"/>
              </a:rPr>
              <a:t>The composite score blends:</a:t>
            </a: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300" b="0">
                <a:solidFill>
                  <a:srgbClr val="52514E"/>
                </a:solidFill>
                <a:latin typeface="Segoe UI"/>
              </a:rPr>
              <a:t>50%  gap size</a:t>
            </a:r>
          </a:p>
          <a:p>
            <a:pPr algn="l">
              <a:lnSpc>
                <a:spcPct val="132000"/>
              </a:lnSpc>
            </a:pPr>
            <a:r>
              <a:rPr sz="1300" b="0">
                <a:solidFill>
                  <a:srgbClr val="52514E"/>
                </a:solidFill>
                <a:latin typeface="Segoe UI"/>
              </a:rPr>
              <a:t>20%  ease of conversion</a:t>
            </a:r>
          </a:p>
          <a:p>
            <a:pPr algn="l">
              <a:lnSpc>
                <a:spcPct val="132000"/>
              </a:lnSpc>
            </a:pPr>
            <a:r>
              <a:rPr sz="1300" b="0">
                <a:solidFill>
                  <a:srgbClr val="52514E"/>
                </a:solidFill>
                <a:latin typeface="Segoe UI"/>
              </a:rPr>
              <a:t>15%  relationship depth</a:t>
            </a:r>
          </a:p>
          <a:p>
            <a:pPr algn="l">
              <a:lnSpc>
                <a:spcPct val="132000"/>
              </a:lnSpc>
            </a:pPr>
            <a:r>
              <a:rPr sz="1300" b="0">
                <a:solidFill>
                  <a:srgbClr val="52514E"/>
                </a:solidFill>
                <a:latin typeface="Segoe UI"/>
              </a:rPr>
              <a:t>15%  90-day urgency</a:t>
            </a: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300" b="0">
                <a:solidFill>
                  <a:srgbClr val="52514E"/>
                </a:solidFill>
                <a:latin typeface="Segoe UI"/>
              </a:rPr>
              <a:t>So the list is ordered by what is realistically</a:t>
            </a:r>
          </a:p>
          <a:p>
            <a:pPr algn="l">
              <a:lnSpc>
                <a:spcPct val="132000"/>
              </a:lnSpc>
            </a:pPr>
            <a:r>
              <a:rPr sz="1300" b="0">
                <a:solidFill>
                  <a:srgbClr val="52514E"/>
                </a:solidFill>
                <a:latin typeface="Segoe UI"/>
              </a:rPr>
              <a:t>winnable, not simply by client size.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78D6"/>
                </a:solidFill>
                <a:latin typeface="Segoe UI"/>
              </a:rPr>
              <a:t>GENERATIVE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Segoe UI"/>
              </a:rPr>
              <a:t>The model writes the briefing; the engine owns the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371600" cy="320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0B0B"/>
                </a:solidFill>
                <a:latin typeface="Segoe UI"/>
              </a:rPr>
              <a:t>How it is grounded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Every figure is computed by the wallet engine and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passed in as an evidence block. The model is told to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reuse those figures verbatim — it does language,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not arithmetic.</a:t>
            </a: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Each output is then re-read by a grounding check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that flags any rand amount or percentage that did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not appear in the evidence.</a:t>
            </a: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Currently zero unsupported figures across all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generated briefings.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0B0B"/>
                </a:solidFill>
                <a:latin typeface="Segoe UI"/>
              </a:rPr>
              <a:t>Why it survives a live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51206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Falls back to deterministic text, section by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section, if the API is unavailable</a:t>
            </a: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Responses cached to disk, so it runs offline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and costs no quota to repeat</a:t>
            </a: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One call, not an agent hierarchy — answers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land in about three seconds</a:t>
            </a: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/ai-status reports which model answered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257800"/>
            <a:ext cx="10881360" cy="18288"/>
          </a:xfrm>
          <a:prstGeom prst="rect">
            <a:avLst/>
          </a:prstGeom>
          <a:solidFill>
            <a:srgbClr val="E6E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2514E"/>
                </a:solidFill>
                <a:latin typeface="Segoe UI"/>
              </a:rPr>
              <a:t>It writes pre-meeting briefings and answers open questions over the portfolio in natural language.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78D6"/>
                </a:solidFill>
                <a:latin typeface="Segoe UI"/>
              </a:rPr>
              <a:t>RIGOUR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Segoe UI"/>
              </a:rPr>
              <a:t>The conclusion survives our assumptions being wrong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371600" cy="320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6400800" cy="286165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0B0B"/>
                </a:solidFill>
                <a:latin typeface="Segoe UI"/>
              </a:rPr>
              <a:t>±25% on every multiple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2331720"/>
            <a:ext cx="4206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Portfolio-wide average share moves only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between 3.6% and 5.9% (not the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0.1%-67.8% per-client range).</a:t>
            </a: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The captured side does not move at all —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it is measured, not assumed. If it did, the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model would still be circular.</a:t>
            </a:r>
          </a:p>
          <a:p>
            <a:pPr algn="l">
              <a:lnSpc>
                <a:spcPct val="132000"/>
              </a:lnSpc>
            </a:pP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Cross-check: our multiples imply banking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fees of ~0.47% of revenue, inside the</a:t>
            </a:r>
          </a:p>
          <a:p>
            <a:pPr algn="l">
              <a:lnSpc>
                <a:spcPct val="132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0.4–0.7% range the brief itself cites.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A78D6"/>
                </a:solidFill>
                <a:latin typeface="Segoe U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5836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0B0B0B"/>
                </a:solidFill>
                <a:latin typeface="Segoe UI"/>
              </a:rPr>
              <a:t>What we would fix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35024"/>
            <a:ext cx="1371600" cy="32004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0B0B"/>
                </a:solidFill>
                <a:latin typeface="Segoe UI"/>
              </a:rPr>
              <a:t>Known limitations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20 clients supplied, not the 50 described.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We modelled what we were given.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Flow multiples are benchmarks, not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observations.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SA-attribution is the most judgmental input.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Revenue basis differs by industry and is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recorded per client.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Gaps assume our records are complete.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0B0B"/>
                </a:solidFill>
                <a:latin typeface="Segoe UI"/>
              </a:rPr>
              <a:t>Next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4884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Replace SA-attribution with disclosed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segment data from the statements.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Extend to lending and DCM using the debt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schedules already collected.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Forecast cash cycles from three years of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daily flow to time the engagement, not just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target it.</a:t>
            </a:r>
          </a:p>
          <a:p>
            <a:pPr algn="l">
              <a:lnSpc>
                <a:spcPct val="130000"/>
              </a:lnSpc>
            </a:pP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•  Back-test share estimates against any</a:t>
            </a:r>
          </a:p>
          <a:p>
            <a:pPr algn="l">
              <a:lnSpc>
                <a:spcPct val="130000"/>
              </a:lnSpc>
            </a:pPr>
            <a:r>
              <a:rPr sz="1350" b="0">
                <a:solidFill>
                  <a:srgbClr val="52514E"/>
                </a:solidFill>
                <a:latin typeface="Segoe UI"/>
              </a:rPr>
              <a:t>   mandate wins that follow.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A78D6"/>
                </a:solidFill>
                <a:latin typeface="Segoe UI"/>
              </a:rPr>
              <a:t>IN ONE 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6070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</a:pPr>
            <a:r>
              <a:rPr sz="3200" b="1">
                <a:solidFill>
                  <a:srgbClr val="0B0B0B"/>
                </a:solidFill>
                <a:latin typeface="Segoe UI"/>
              </a:rPr>
              <a:t>Syn Bank holds 4.5% of a R4.29 trillion flow.</a:t>
            </a:r>
          </a:p>
          <a:p>
            <a:pPr algn="l">
              <a:lnSpc>
                <a:spcPct val="128000"/>
              </a:lnSpc>
            </a:pPr>
            <a:r>
              <a:rPr sz="3200" b="1">
                <a:solidFill>
                  <a:srgbClr val="0B0B0B"/>
                </a:solidFill>
                <a:latin typeface="Segoe UI"/>
              </a:rPr>
              <a:t>The other 95.5% is worth R9.65bn a year in fees —</a:t>
            </a:r>
          </a:p>
          <a:p>
            <a:pPr algn="l">
              <a:lnSpc>
                <a:spcPct val="128000"/>
              </a:lnSpc>
            </a:pPr>
            <a:r>
              <a:rPr sz="3200" b="1">
                <a:solidFill>
                  <a:srgbClr val="0B0B0B"/>
                </a:solidFill>
                <a:latin typeface="Segoe UI"/>
              </a:rPr>
              <a:t>and we can name who to call first.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206240"/>
            <a:ext cx="1645920" cy="3200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52514E"/>
                </a:solidFill>
                <a:latin typeface="Segoe UI"/>
              </a:rPr>
              <a:t>Every number traceable to a computed field.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52514E"/>
                </a:solidFill>
                <a:latin typeface="Segoe UI"/>
              </a:rPr>
              <a:t>Every external figure cited. Every assumption tested.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2514E"/>
                </a:solidFill>
                <a:latin typeface="Segoe UI"/>
              </a:rPr>
              <a:t>Team The Independent Variable · Daniel Mataranyika · Herton Mabongue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