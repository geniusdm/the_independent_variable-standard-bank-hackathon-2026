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B0B0B"/>
                </a:solidFill>
                <a:latin typeface="Segoe UI"/>
              </a:rPr>
              <a:t>Share of Wallet Intelligence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52514E"/>
                </a:solidFill>
                <a:latin typeface="Segoe UI"/>
              </a:rPr>
              <a:t>How much of each client's banking does Syn Bank actually hold?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1645920" cy="320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B0B0B"/>
                </a:solidFill>
                <a:latin typeface="Segoe UI"/>
              </a:rPr>
              <a:t>Team The Independent Variable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B0B0B"/>
                </a:solidFill>
                <a:latin typeface="Segoe UI"/>
              </a:rPr>
              <a:t>Daniel Mataranyika · Herton Mabongue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Standard Bank × Data School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You cannot measure what you cannot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0B0B0B"/>
                </a:solidFill>
                <a:latin typeface="Segoe UI"/>
              </a:rPr>
              <a:t>Syn Bank sees every transaction that flows through Syn Bank — and none of the ones</a:t>
            </a:r>
          </a:p>
          <a:p>
            <a:pPr algn="l">
              <a:lnSpc>
                <a:spcPct val="130000"/>
              </a:lnSpc>
            </a:pPr>
            <a:r>
              <a:rPr sz="1900" b="0">
                <a:solidFill>
                  <a:srgbClr val="0B0B0B"/>
                </a:solidFill>
                <a:latin typeface="Segoe UI"/>
              </a:rPr>
              <a:t>that flow through its competitors.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So share of wallet cannot be read off the internal data. It has to be estimated from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outside, and the estimate has to be independent of what we already 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526280"/>
            <a:ext cx="10881360" cy="18288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B6834"/>
                </a:solidFill>
                <a:latin typeface="Segoe UI"/>
              </a:rPr>
              <a:t>Getting that independence wrong is subtle — and we got it wrong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WHAT WE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Our first model could not see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0B0B"/>
                </a:solidFill>
                <a:latin typeface="Segoe UI"/>
              </a:rPr>
              <a:t>We sized the wallet from internal flow, then took captured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0B0B"/>
                </a:solidFill>
                <a:latin typeface="Segoe UI"/>
              </a:rPr>
              <a:t>volume as a fraction of it: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78D6"/>
                </a:solidFill>
                <a:latin typeface="Segoe UI"/>
              </a:rPr>
              <a:t>share = (wallet × capture_ratio) / wallet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The wallet term cancels. Share was identical to the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assumed capture rate — the data never entered it.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It passed every obvious check: values between 0 and 1,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a plausible-looking ranking.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2514E"/>
                </a:solidFill>
                <a:latin typeface="Segoe UI"/>
              </a:rPr>
              <a:t>301×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961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DIFFERENCE IN CLIENT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0292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B6834"/>
                </a:solidFill>
                <a:latin typeface="Segoe UI"/>
              </a:rPr>
              <a:t>4.4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55961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DIFFERENCE IN SHARE</a:t>
            </a:r>
          </a:p>
        </p:txBody>
      </p:sp>
      <p:pic>
        <p:nvPicPr>
          <p:cNvPr id="12" name="Picture 11" descr="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03120"/>
            <a:ext cx="4937760" cy="15022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Two sides, two independent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TOP-DOWN — estimated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Addressable flow, from published FY2025 statements: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•  Revenue  →  transactional banking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•  Foreign revenue  →  cross-border / FX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•  Cost of sales + inventory  →  trade finance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Each scaled by an explicit SA-attribution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B6834"/>
                </a:solidFill>
                <a:latin typeface="Segoe UI"/>
              </a:rPr>
              <a:t>BOTTOM-UP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5740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Captured flow, summed over the trailing 12 months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of Syn Bank's own datasets.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No assumption enters this side at all.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That is what makes the sensitivity test in a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later slide meaningful.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17720"/>
            <a:ext cx="10881360" cy="18288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0B0B"/>
                </a:solidFill>
                <a:latin typeface="Segoe UI"/>
              </a:rPr>
              <a:t>share  =  captured flow  ÷  addressable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Share now spans 0.1% to 67.8% across the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THE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Syn Bank holds 5% of its clients' banking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A78D6"/>
                </a:solidFill>
                <a:latin typeface="Segoe UI"/>
              </a:rPr>
              <a:t>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500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SHARE OF WALLET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A78D6"/>
                </a:solidFill>
                <a:latin typeface="Segoe UI"/>
              </a:rPr>
              <a:t>R3.80tn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3500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ADDRESSABLE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B6834"/>
                </a:solidFill>
                <a:latin typeface="Segoe UI"/>
              </a:rPr>
              <a:t>R3.61tn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3500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UNCAPTURED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B6834"/>
                </a:solidFill>
                <a:latin typeface="Segoe UI"/>
              </a:rPr>
              <a:t>R8.68bn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3500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FEE OPPORTUNITY / YR</a:t>
            </a:r>
          </a:p>
        </p:txBody>
      </p:sp>
      <p:pic>
        <p:nvPicPr>
          <p:cNvPr id="13" name="Picture 12" descr="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17520"/>
            <a:ext cx="5577840" cy="23174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3063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0B0B"/>
                </a:solidFill>
                <a:latin typeface="Segoe UI"/>
              </a:rPr>
              <a:t>Transactional is the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52044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It is the largest uncaptured pillar in absolute terms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and the lead pillar for 19 of 20 clients.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That makes cash-management consolidation the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repeatable conversation across the whole book —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one proposition, twenty meetings.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PRIORITISATION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Where a banker should start on Monday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pportu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66560" cy="3074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7373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Ranked by winnable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24028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The composite score blends: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50%  gap size</a:t>
            </a: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20%  ease of conversion</a:t>
            </a: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15%  relationship depth</a:t>
            </a: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15%  90-day urgency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So the list is ordered by what is realistically</a:t>
            </a: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winnable, not simply by client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GENERATIVE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The model writes the briefing; the engine owns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How it is grounded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Every figure is computed by the wallet engine and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passed in as an evidence block. The model is told to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reuse those figures verbatim — it does language,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not arithmetic.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Each output is then re-read by a grounding check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that flags any rand amount or percentage that did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not appear in the evidence.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Currently zero unsupported figures across all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generated briefings.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Why it survives a 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Falls back to deterministic text, section by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section, if the API is unavailable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Responses cached to disk, so it runs offline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and costs no quota to repeat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One call, not an agent hierarchy — answers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land in about three seconds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/ai-status reports which model answered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257800"/>
            <a:ext cx="10881360" cy="18288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It writes pre-meeting briefings and answers open questions over the portfolio in natural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The conclusion survives our assumptions being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400800" cy="28616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±25% on every multiple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33172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Portfolio share moves only between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4.0% and 6.7%.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The captured side does not move at all —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it is measured, not assumed. If it did, the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model would still be circular.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Cross-check: our multiples imply banking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fees of ~0.47% of revenue, inside the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0.4–0.7% range the brief itself cites.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What we would fix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Known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20 clients supplied, not the 50 described.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We modelled what we were given.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Flow multiples are benchmarks, not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observations.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SA-attribution is the most judgmental input.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One revenue figure (Sanlam) is an estimate —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flagged and confidence-penalised.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Gaps assume our records are complete.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Replace SA-attribution with disclosed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segment data from the statements.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Extend to lending and DCM using the debt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schedules already collected.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Forecast cash cycles from three years of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daily flow to time the engagement, not just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target it.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Back-test share estimates against any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mandate wins that follow.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IN 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>
                <a:solidFill>
                  <a:srgbClr val="0B0B0B"/>
                </a:solidFill>
                <a:latin typeface="Segoe UI"/>
              </a:rPr>
              <a:t>Syn Bank holds 5% of a R3.8 trillion flow.</a:t>
            </a:r>
          </a:p>
          <a:p>
            <a:pPr algn="l">
              <a:lnSpc>
                <a:spcPct val="128000"/>
              </a:lnSpc>
            </a:pPr>
            <a:r>
              <a:rPr sz="3200" b="1">
                <a:solidFill>
                  <a:srgbClr val="0B0B0B"/>
                </a:solidFill>
                <a:latin typeface="Segoe UI"/>
              </a:rPr>
              <a:t>The other 95% is worth R8.7bn a year in fees —</a:t>
            </a:r>
          </a:p>
          <a:p>
            <a:pPr algn="l">
              <a:lnSpc>
                <a:spcPct val="128000"/>
              </a:lnSpc>
            </a:pPr>
            <a:r>
              <a:rPr sz="3200" b="1">
                <a:solidFill>
                  <a:srgbClr val="0B0B0B"/>
                </a:solidFill>
                <a:latin typeface="Segoe UI"/>
              </a:rPr>
              <a:t>and we can name who to call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206240"/>
            <a:ext cx="1645920" cy="320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Every number traceable to a computed field.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Every external figure cited. Every assumption tested.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2514E"/>
                </a:solidFill>
                <a:latin typeface="Segoe UI"/>
              </a:rPr>
              <a:t>Team The Independent Variable · Daniel Mataranyika · Herton Mabongue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